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ADLaM Display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Sorts Mill Goudy" panose="020B0604020202020204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733ba5132_2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7733ba5132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733ba5132_2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7733ba5132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733ba5132_2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7733ba5132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4ac16e32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64ac16e32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4ac16e32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64ac16e32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733ba5132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7733ba5132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580400" y="822724"/>
            <a:ext cx="5983200" cy="156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orts Mill Goud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2412000" y="2959328"/>
            <a:ext cx="4320000" cy="137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 i="0"/>
            </a:lvl1pPr>
            <a:lvl2pPr lvl="1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sz="1500"/>
            </a:lvl2pPr>
            <a:lvl3pPr lvl="2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sz="1200"/>
            </a:lvl4pPr>
            <a:lvl5pPr lvl="4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4369500" y="2644330"/>
            <a:ext cx="405000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4" name="Google Shape;64;p14"/>
          <p:cNvGrpSpPr/>
          <p:nvPr/>
        </p:nvGrpSpPr>
        <p:grpSpPr>
          <a:xfrm rot="2700000">
            <a:off x="7595770" y="3133680"/>
            <a:ext cx="475060" cy="1396604"/>
            <a:chOff x="5959192" y="333389"/>
            <a:chExt cx="633413" cy="1862138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5959192" y="333389"/>
                <a:ext cx="319088" cy="1419225"/>
              </a:xfrm>
              <a:custGeom>
                <a:avLst/>
                <a:gdLst/>
                <a:ahLst/>
                <a:cxnLst/>
                <a:rect l="l" t="t" r="r" b="b"/>
                <a:pathLst>
                  <a:path w="67" h="298" extrusionOk="0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6278280" y="333389"/>
                <a:ext cx="314325" cy="14192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298" extrusionOk="0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9803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cxnSp>
          <p:nvCxnSpPr>
            <p:cNvPr id="68" name="Google Shape;68;p14"/>
            <p:cNvCxnSpPr/>
            <p:nvPr/>
          </p:nvCxnSpPr>
          <p:spPr>
            <a:xfrm rot="10800000">
              <a:off x="6278280" y="333389"/>
              <a:ext cx="0" cy="1862138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742050" y="1264444"/>
            <a:ext cx="7659900" cy="303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42500" y="1729350"/>
            <a:ext cx="3477600" cy="1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orts Mill Goud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4923938" y="1729350"/>
            <a:ext cx="3477600" cy="1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 i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venir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077852" y="486978"/>
            <a:ext cx="255311" cy="255311"/>
          </a:xfrm>
          <a:prstGeom prst="ellipse">
            <a:avLst/>
          </a:prstGeom>
          <a:gradFill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9803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82" name="Google Shape;82;p16"/>
          <p:cNvGrpSpPr/>
          <p:nvPr/>
        </p:nvGrpSpPr>
        <p:grpSpPr>
          <a:xfrm rot="10800000">
            <a:off x="809625" y="732436"/>
            <a:ext cx="693293" cy="783985"/>
            <a:chOff x="6200905" y="2967038"/>
            <a:chExt cx="924390" cy="1045314"/>
          </a:xfrm>
        </p:grpSpPr>
        <p:grpSp>
          <p:nvGrpSpPr>
            <p:cNvPr id="83" name="Google Shape;83;p16"/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84" name="Google Shape;84;p16"/>
              <p:cNvSpPr/>
              <p:nvPr/>
            </p:nvSpPr>
            <p:spPr>
              <a:xfrm>
                <a:off x="6808136" y="2967038"/>
                <a:ext cx="159772" cy="710627"/>
              </a:xfrm>
              <a:custGeom>
                <a:avLst/>
                <a:gdLst/>
                <a:ahLst/>
                <a:cxnLst/>
                <a:rect l="l" t="t" r="r" b="b"/>
                <a:pathLst>
                  <a:path w="67" h="298" extrusionOk="0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6967908" y="2967038"/>
                <a:ext cx="157387" cy="710627"/>
              </a:xfrm>
              <a:custGeom>
                <a:avLst/>
                <a:gdLst/>
                <a:ahLst/>
                <a:cxnLst/>
                <a:rect l="l" t="t" r="r" b="b"/>
                <a:pathLst>
                  <a:path w="66" h="298" extrusionOk="0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9803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86" name="Google Shape;86;p16"/>
              <p:cNvCxnSpPr/>
              <p:nvPr/>
            </p:nvCxnSpPr>
            <p:spPr>
              <a:xfrm rot="10800000">
                <a:off x="6967908" y="2967038"/>
                <a:ext cx="0" cy="932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7" name="Google Shape;87;p16"/>
            <p:cNvGrpSpPr/>
            <p:nvPr/>
          </p:nvGrpSpPr>
          <p:grpSpPr>
            <a:xfrm rot="-27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88" name="Google Shape;88;p16"/>
              <p:cNvSpPr/>
              <p:nvPr/>
            </p:nvSpPr>
            <p:spPr>
              <a:xfrm>
                <a:off x="6808136" y="2967038"/>
                <a:ext cx="159772" cy="710627"/>
              </a:xfrm>
              <a:custGeom>
                <a:avLst/>
                <a:gdLst/>
                <a:ahLst/>
                <a:cxnLst/>
                <a:rect l="l" t="t" r="r" b="b"/>
                <a:pathLst>
                  <a:path w="67" h="298" extrusionOk="0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9" name="Google Shape;89;p16"/>
              <p:cNvSpPr/>
              <p:nvPr/>
            </p:nvSpPr>
            <p:spPr>
              <a:xfrm>
                <a:off x="6967908" y="2967038"/>
                <a:ext cx="157387" cy="710627"/>
              </a:xfrm>
              <a:custGeom>
                <a:avLst/>
                <a:gdLst/>
                <a:ahLst/>
                <a:cxnLst/>
                <a:rect l="l" t="t" r="r" b="b"/>
                <a:pathLst>
                  <a:path w="66" h="298" extrusionOk="0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9803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90" name="Google Shape;90;p16"/>
              <p:cNvCxnSpPr/>
              <p:nvPr/>
            </p:nvCxnSpPr>
            <p:spPr>
              <a:xfrm rot="10800000">
                <a:off x="6967908" y="2967038"/>
                <a:ext cx="0" cy="932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91" name="Google Shape;91;p16"/>
          <p:cNvCxnSpPr/>
          <p:nvPr/>
        </p:nvCxnSpPr>
        <p:spPr>
          <a:xfrm rot="5400000">
            <a:off x="4369500" y="2571751"/>
            <a:ext cx="405000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742050" y="1264444"/>
            <a:ext cx="3696300" cy="306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2"/>
          </p:nvPr>
        </p:nvSpPr>
        <p:spPr>
          <a:xfrm>
            <a:off x="4705652" y="1264444"/>
            <a:ext cx="3696300" cy="306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742049" y="1302549"/>
            <a:ext cx="3696300" cy="49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0" cap="none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sz="1500" b="1"/>
            </a:lvl2pPr>
            <a:lvl3pPr marL="1371600" lvl="2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sz="1200" b="1"/>
            </a:lvl4pPr>
            <a:lvl5pPr marL="2286000" lvl="4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2"/>
          </p:nvPr>
        </p:nvSpPr>
        <p:spPr>
          <a:xfrm>
            <a:off x="742050" y="1823442"/>
            <a:ext cx="3696300" cy="25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3"/>
          </p:nvPr>
        </p:nvSpPr>
        <p:spPr>
          <a:xfrm>
            <a:off x="4705650" y="1302549"/>
            <a:ext cx="369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0" cap="none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sz="1500" b="1"/>
            </a:lvl2pPr>
            <a:lvl3pPr marL="1371600" lvl="2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sz="1200" b="1"/>
            </a:lvl4pPr>
            <a:lvl5pPr marL="2286000" lvl="4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4"/>
          </p:nvPr>
        </p:nvSpPr>
        <p:spPr>
          <a:xfrm>
            <a:off x="4705650" y="1823443"/>
            <a:ext cx="3696300" cy="25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742501" y="716756"/>
            <a:ext cx="2648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rts Mill Goudy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4083638" y="661988"/>
            <a:ext cx="4320000" cy="367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·"/>
              <a:defRPr sz="2400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None/>
              <a:defRPr sz="2100"/>
            </a:lvl2pPr>
            <a:lvl3pPr marL="1371600" lvl="2" indent="-3429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·"/>
              <a:defRPr sz="1800"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venir"/>
              <a:buNone/>
              <a:defRPr sz="1500"/>
            </a:lvl4pPr>
            <a:lvl5pPr marL="2286000" lvl="4" indent="-3238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500"/>
              <a:buChar char="·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2"/>
          </p:nvPr>
        </p:nvSpPr>
        <p:spPr>
          <a:xfrm>
            <a:off x="742051" y="1938569"/>
            <a:ext cx="2648700" cy="2395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  <a:defRPr sz="1100"/>
            </a:lvl2pPr>
            <a:lvl3pPr marL="1371600" lvl="2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Avenir"/>
              <a:buNone/>
              <a:defRPr sz="800"/>
            </a:lvl4pPr>
            <a:lvl5pPr marL="2286000" lvl="4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124" name="Google Shape;124;p21"/>
          <p:cNvCxnSpPr/>
          <p:nvPr/>
        </p:nvCxnSpPr>
        <p:spPr>
          <a:xfrm>
            <a:off x="3734991" y="405000"/>
            <a:ext cx="0" cy="4333500"/>
          </a:xfrm>
          <a:prstGeom prst="straightConnector1">
            <a:avLst/>
          </a:prstGeom>
          <a:noFill/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742500" y="716592"/>
            <a:ext cx="2648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rts Mill Goudy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>
            <a:spLocks noGrp="1"/>
          </p:cNvSpPr>
          <p:nvPr>
            <p:ph type="pic" idx="2"/>
          </p:nvPr>
        </p:nvSpPr>
        <p:spPr>
          <a:xfrm>
            <a:off x="4152900" y="405001"/>
            <a:ext cx="4586288" cy="3928875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742500" y="1938569"/>
            <a:ext cx="2648700" cy="246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  <a:defRPr sz="1100"/>
            </a:lvl2pPr>
            <a:lvl3pPr marL="1371600" lvl="2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Avenir"/>
              <a:buNone/>
              <a:defRPr sz="800"/>
            </a:lvl4pPr>
            <a:lvl5pPr marL="2286000" lvl="4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132" name="Google Shape;132;p22"/>
          <p:cNvCxnSpPr/>
          <p:nvPr/>
        </p:nvCxnSpPr>
        <p:spPr>
          <a:xfrm>
            <a:off x="3734991" y="405000"/>
            <a:ext cx="0" cy="4333500"/>
          </a:xfrm>
          <a:prstGeom prst="straightConnector1">
            <a:avLst/>
          </a:prstGeom>
          <a:noFill/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 rot="5400000">
            <a:off x="3056928" y="-1050435"/>
            <a:ext cx="3030143" cy="7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3175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42050" y="1264444"/>
            <a:ext cx="7659900" cy="303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2385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·"/>
              <a:defRPr sz="15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sz="1500" b="0" i="1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238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·"/>
              <a:defRPr sz="15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nir"/>
              <a:buNone/>
              <a:defRPr sz="1500" b="0" i="1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238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·"/>
              <a:defRPr sz="15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25850" y="-25850"/>
            <a:ext cx="9169850" cy="921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subTitle" idx="1"/>
          </p:nvPr>
        </p:nvSpPr>
        <p:spPr>
          <a:xfrm>
            <a:off x="511300" y="1342245"/>
            <a:ext cx="3561000" cy="14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 sz="3600" b="1">
                <a:solidFill>
                  <a:schemeClr val="lt1"/>
                </a:solidFill>
                <a:latin typeface="ADLaM Display"/>
                <a:ea typeface="ADLaM Display"/>
                <a:cs typeface="ADLaM Display"/>
                <a:sym typeface="ADLaM Display"/>
              </a:rPr>
              <a:t>Retail Business </a:t>
            </a:r>
            <a:r>
              <a:rPr lang="es-419" sz="4500" b="1">
                <a:solidFill>
                  <a:schemeClr val="lt1"/>
                </a:solidFill>
                <a:latin typeface="ADLaM Display"/>
                <a:ea typeface="ADLaM Display"/>
                <a:cs typeface="ADLaM Display"/>
                <a:sym typeface="ADLaM Display"/>
              </a:rPr>
              <a:t>Int</a:t>
            </a: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Jhon Ponce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3180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David Ramírez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3180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Frederick Figueroa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Miguel Olalla</a:t>
            </a:r>
            <a:r>
              <a:rPr lang="es-419" sz="4500" b="1">
                <a:solidFill>
                  <a:schemeClr val="lt1"/>
                </a:solidFill>
                <a:latin typeface="ADLaM Display"/>
                <a:ea typeface="ADLaM Display"/>
                <a:cs typeface="ADLaM Display"/>
                <a:sym typeface="ADLaM Display"/>
              </a:rPr>
              <a:t>elligence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0" name="Google Shape;150;p25"/>
          <p:cNvCxnSpPr/>
          <p:nvPr/>
        </p:nvCxnSpPr>
        <p:spPr>
          <a:xfrm>
            <a:off x="6661327" y="2768153"/>
            <a:ext cx="405000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25"/>
          <p:cNvSpPr txBox="1"/>
          <p:nvPr/>
        </p:nvSpPr>
        <p:spPr>
          <a:xfrm>
            <a:off x="4857011" y="1382963"/>
            <a:ext cx="4013700" cy="3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 Grupo #9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8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Jhon Ponce</a:t>
            </a:r>
            <a:endParaRPr sz="1100"/>
          </a:p>
          <a:p>
            <a:pPr marL="4318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Ramírez</a:t>
            </a:r>
            <a:endParaRPr sz="1100"/>
          </a:p>
          <a:p>
            <a:pPr marL="4318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Figueroa</a:t>
            </a:r>
            <a:endParaRPr sz="1100"/>
          </a:p>
          <a:p>
            <a:pPr marL="4318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Miguel Olalla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8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Luis Jara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25" title="Miniatura de YouTube Análisis de datos Fotografía Azul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7350" y="-18942"/>
            <a:ext cx="9211351" cy="518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BF4493D-246D-41D9-861B-4EBFDCAE8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7" y="1103494"/>
            <a:ext cx="8392886" cy="348079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C0D7A44-A85F-4833-B442-E15382F21601}"/>
              </a:ext>
            </a:extLst>
          </p:cNvPr>
          <p:cNvSpPr/>
          <p:nvPr/>
        </p:nvSpPr>
        <p:spPr>
          <a:xfrm>
            <a:off x="838200" y="2932793"/>
            <a:ext cx="7930243" cy="547007"/>
          </a:xfrm>
          <a:prstGeom prst="rect">
            <a:avLst/>
          </a:prstGeom>
          <a:solidFill>
            <a:schemeClr val="accent2">
              <a:lumMod val="40000"/>
              <a:lumOff val="6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FDC47E-2308-47D5-9D5E-E8F719BE3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58" y="1104642"/>
            <a:ext cx="6868484" cy="3696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E19AEB-C82F-4422-B95C-C477DF937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48" y="1195143"/>
            <a:ext cx="7472903" cy="349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514904-47FB-4A1B-82C7-5356CD8EC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27" y="1209426"/>
            <a:ext cx="6601746" cy="3562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title"/>
          </p:nvPr>
        </p:nvSpPr>
        <p:spPr>
          <a:xfrm>
            <a:off x="742050" y="836034"/>
            <a:ext cx="7659900" cy="8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ts Mill Goudy"/>
              <a:buNone/>
            </a:pPr>
            <a:r>
              <a:rPr lang="es-419" b="1" dirty="0">
                <a:latin typeface="Montserrat"/>
                <a:ea typeface="Montserrat"/>
                <a:cs typeface="Montserrat"/>
                <a:sym typeface="Montserrat"/>
              </a:rPr>
              <a:t>Conclusiones del Análisis Comercial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920325" y="1951918"/>
            <a:ext cx="7303350" cy="28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696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  <a:t>2018: </a:t>
            </a:r>
            <a:r>
              <a:rPr lang="es-419" sz="1600" dirty="0">
                <a:latin typeface="Montserrat"/>
                <a:ea typeface="Montserrat"/>
                <a:cs typeface="Montserrat"/>
                <a:sym typeface="Montserrat"/>
              </a:rPr>
              <a:t>Año récord de ventas</a:t>
            </a:r>
            <a:br>
              <a:rPr lang="es-419" sz="1600" dirty="0">
                <a:latin typeface="Montserrat"/>
                <a:ea typeface="Montserrat"/>
                <a:cs typeface="Montserrat"/>
                <a:sym typeface="Montserrat"/>
              </a:rPr>
            </a:br>
            <a:endParaRPr sz="1600" i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69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  <a:t>Región Centro </a:t>
            </a:r>
            <a:r>
              <a:rPr lang="es-419" sz="1600" dirty="0">
                <a:latin typeface="Montserrat"/>
                <a:ea typeface="Montserrat"/>
                <a:cs typeface="Montserrat"/>
                <a:sym typeface="Montserrat"/>
              </a:rPr>
              <a:t>lidera las ventas</a:t>
            </a:r>
            <a:b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</a:br>
            <a:endParaRPr sz="1600" i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69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  <a:t>Equilibrio </a:t>
            </a:r>
            <a:r>
              <a:rPr lang="es-419" sz="1600" dirty="0">
                <a:latin typeface="Montserrat"/>
                <a:ea typeface="Montserrat"/>
                <a:cs typeface="Montserrat"/>
                <a:sym typeface="Montserrat"/>
              </a:rPr>
              <a:t>entre</a:t>
            </a:r>
            <a: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  <a:t> canales </a:t>
            </a:r>
            <a:r>
              <a:rPr lang="es-419" sz="1600" dirty="0">
                <a:latin typeface="Montserrat"/>
                <a:ea typeface="Montserrat"/>
                <a:cs typeface="Montserrat"/>
                <a:sym typeface="Montserrat"/>
              </a:rPr>
              <a:t>de venta</a:t>
            </a:r>
            <a:b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</a:br>
            <a:endParaRPr sz="16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69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lang="es-419" sz="1600" dirty="0">
                <a:latin typeface="Montserrat"/>
                <a:ea typeface="Montserrat"/>
                <a:cs typeface="Montserrat"/>
                <a:sym typeface="Montserrat"/>
              </a:rPr>
              <a:t>Producto con </a:t>
            </a:r>
            <a:r>
              <a:rPr lang="es-419" sz="1600" b="1" dirty="0">
                <a:latin typeface="Montserrat"/>
                <a:ea typeface="Montserrat"/>
                <a:cs typeface="Montserrat"/>
                <a:sym typeface="Montserrat"/>
              </a:rPr>
              <a:t>mayor devolución: </a:t>
            </a:r>
            <a:r>
              <a:rPr lang="es-419" sz="1600" b="1" i="1" dirty="0" err="1">
                <a:latin typeface="Montserrat"/>
                <a:ea typeface="Montserrat"/>
                <a:cs typeface="Montserrat"/>
                <a:sym typeface="Montserrat"/>
              </a:rPr>
              <a:t>Commodi</a:t>
            </a:r>
            <a:endParaRPr sz="900" i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66700" lvl="0" indent="-1651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600"/>
              <a:buNone/>
            </a:pPr>
            <a:endParaRPr sz="9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ostyVTI">
  <a:themeElements>
    <a:clrScheme name="Frosty">
      <a:dk1>
        <a:srgbClr val="000000"/>
      </a:dk1>
      <a:lt1>
        <a:srgbClr val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53</Words>
  <Application>Microsoft Office PowerPoint</Application>
  <PresentationFormat>Presentación en pantalla (16:9)</PresentationFormat>
  <Paragraphs>16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Montserrat</vt:lpstr>
      <vt:lpstr>Sorts Mill Goudy</vt:lpstr>
      <vt:lpstr>Arial</vt:lpstr>
      <vt:lpstr>Times New Roman</vt:lpstr>
      <vt:lpstr>ADLaM Display</vt:lpstr>
      <vt:lpstr>Noto Sans Symbols</vt:lpstr>
      <vt:lpstr>Avenir</vt:lpstr>
      <vt:lpstr>Simple Light</vt:lpstr>
      <vt:lpstr>FrostyVTI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 del Análisis Comercial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Cliente CONTROL-PC</cp:lastModifiedBy>
  <cp:revision>4</cp:revision>
  <dcterms:modified xsi:type="dcterms:W3CDTF">2025-08-23T15:05:10Z</dcterms:modified>
</cp:coreProperties>
</file>